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Jugadores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5F89E"/>
              </a:solidFill>
              <a:ln w="25400" cap="flat">
                <a:solidFill>
                  <a:srgbClr val="F2F5F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11111"/>
              </a:solidFill>
              <a:ln w="25400" cap="flat">
                <a:solidFill>
                  <a:srgbClr val="F2F5F3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E7D4F"/>
              </a:solidFill>
              <a:ln w="25400" cap="flat">
                <a:solidFill>
                  <a:srgbClr val="F2F5F3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BDBDBD"/>
              </a:solidFill>
              <a:ln w="25400" cap="flat">
                <a:solidFill>
                  <a:srgbClr val="F2F5F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Empresas aliadas de Quoota · 56</c:v>
                </c:pt>
                <c:pt idx="1">
                  <c:v>Inscripción abierta · 28</c:v>
                </c:pt>
                <c:pt idx="2">
                  <c:v>Patrocinantes · 20</c:v>
                </c:pt>
                <c:pt idx="3">
                  <c:v>Empresas prospecto · 16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56</c:v>
                </c:pt>
                <c:pt idx="1">
                  <c:v>28</c:v>
                </c:pt>
                <c:pt idx="2">
                  <c:v>20</c:v>
                </c:pt>
                <c:pt idx="3">
                  <c:v>16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1111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concepto: el campo más alto del país para la copa más alta de Venezuela.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clave: cero costo y cero riesgo para el club.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Montos referenciales. Potencial total: USD 88.000 si se venden todos los cupos.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2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1111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portada" descr="Pórtico de acceso de la Copa Quoota en el Junko Country Cl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nel portada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11111">
              <a:alpha val="8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5257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5F89E"/>
                </a:solidFill>
              </a:rPr>
              <a:t>PROPUESTA A LA JUNTA DIRECTIVA  ·  JUNKO COUNTRY CLUB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5778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 copa más alta de Venezuela.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5577840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Sábado 20 de febrero de 2027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</a:rPr>
              <a:t>Quoota Capital  ·  Gerencia de Mercadeo  ·  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La propuesta en una mirada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Quoota Capital organiza, produce y financia la primera Copa Quoota de Golf en el Junko Country Club: un torneo de 18 hoyos con convocatoria abierta e invitación prioritaria a las empresas aliadas de Quoota.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Mensaje clave: cero costo y cero riesgo para el club.</a:t>
            </a:r>
            <a:endParaRPr lang="en-US" sz="1400" dirty="0"/>
          </a:p>
        </p:txBody>
      </p:sp>
      <p:sp>
        <p:nvSpPr>
          <p:cNvPr id="5" name="Tarjeta 20.02.27"/>
          <p:cNvSpPr/>
          <p:nvPr/>
        </p:nvSpPr>
        <p:spPr>
          <a:xfrm>
            <a:off x="5562295" y="1554480"/>
            <a:ext cx="2926080" cy="224028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836615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20.02.27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836615" y="2743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Sábado 20 de febrero de 2027. Alterna: 6 de marzo</a:t>
            </a:r>
            <a:endParaRPr lang="en-US" sz="1400" dirty="0"/>
          </a:p>
        </p:txBody>
      </p:sp>
      <p:sp>
        <p:nvSpPr>
          <p:cNvPr id="8" name="Tarjeta 120"/>
          <p:cNvSpPr/>
          <p:nvPr/>
        </p:nvSpPr>
        <p:spPr>
          <a:xfrm>
            <a:off x="8716975" y="1554480"/>
            <a:ext cx="2926080" cy="224028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991295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120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991295" y="2743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jugadores en 30 equipos de 4</a:t>
            </a:r>
            <a:endParaRPr lang="en-US" sz="1400" dirty="0"/>
          </a:p>
        </p:txBody>
      </p:sp>
      <p:sp>
        <p:nvSpPr>
          <p:cNvPr id="11" name="Tarjeta 220"/>
          <p:cNvSpPr/>
          <p:nvPr/>
        </p:nvSpPr>
        <p:spPr>
          <a:xfrm>
            <a:off x="5562295" y="4023360"/>
            <a:ext cx="2926080" cy="224028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836615" y="4297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220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5836615" y="5212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asistentes: jugadores, clínica, aliados y prensa</a:t>
            </a:r>
            <a:endParaRPr lang="en-US" sz="1400" dirty="0"/>
          </a:p>
        </p:txBody>
      </p:sp>
      <p:sp>
        <p:nvSpPr>
          <p:cNvPr id="14" name="Tarjeta USD 0"/>
          <p:cNvSpPr/>
          <p:nvPr/>
        </p:nvSpPr>
        <p:spPr>
          <a:xfrm>
            <a:off x="8716975" y="4023360"/>
            <a:ext cx="2926080" cy="2240280"/>
          </a:xfrm>
          <a:prstGeom prst="rect">
            <a:avLst/>
          </a:prstGeom>
          <a:solidFill>
            <a:schemeClr val="tx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91295" y="4297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USD 0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991295" y="5212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 costo para el club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oncepto" descr="Backdrop de la Copa Quoota con el trofeo">    </p:cNvPr>
          <p:cNvPicPr>
            <a:picLocks noChangeAspect="1"/>
          </p:cNvPicPr>
          <p:nvPr/>
        </p:nvPicPr>
        <p:blipFill>
          <a:blip r:embed="rId1"/>
          <a:srcRect l="25501" r="24998" t="0" b="0"/>
          <a:stretch/>
        </p:blipFill>
        <p:spPr>
          <a:xfrm>
            <a:off x="6156655" y="0"/>
            <a:ext cx="603504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El concepto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1.714</a:t>
            </a:r>
            <a:endParaRPr lang="en-US" sz="9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metros sobre el nivel del mar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El Junko es el campo más alto del país. La Copa Quoota se juega donde ningún otro torneo puede jugarse y dice lo mismo que Quoota a sus usuarios: las metas se alcanzan subiendo.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212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Estética sobria en negro, blanco y acento verde, para convivir con el paisaje del club.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chemeClr val="accent1"/>
                </a:solidFill>
              </a:rPr>
              <a:t>Juega alto.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Formato del torneo</a:t>
            </a:r>
            <a:endParaRPr lang="en-US" sz="3400" dirty="0"/>
          </a:p>
        </p:txBody>
      </p:sp>
      <p:sp>
        <p:nvSpPr>
          <p:cNvPr id="3" name="Bloque Modalidad"/>
          <p:cNvSpPr/>
          <p:nvPr/>
        </p:nvSpPr>
        <p:spPr>
          <a:xfrm>
            <a:off x="548640" y="1508760"/>
            <a:ext cx="5029200" cy="105156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18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MODALIDAD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928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Scramble a 4 jugadores con hándicap de equipo. Integra niveles distintos en un mismo equipo.</a:t>
            </a:r>
            <a:endParaRPr lang="en-US" sz="1300" dirty="0"/>
          </a:p>
        </p:txBody>
      </p:sp>
      <p:sp>
        <p:nvSpPr>
          <p:cNvPr id="6" name="Bloque Categorías"/>
          <p:cNvSpPr/>
          <p:nvPr/>
        </p:nvSpPr>
        <p:spPr>
          <a:xfrm>
            <a:off x="548640" y="2715768"/>
            <a:ext cx="5029200" cy="105156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825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CATEGORÍAS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9981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Campeón gross y neto, 1.º a 3.º lugar. El trofeo queda en la casa club.</a:t>
            </a:r>
            <a:endParaRPr lang="en-US" sz="1300" dirty="0"/>
          </a:p>
        </p:txBody>
      </p:sp>
      <p:sp>
        <p:nvSpPr>
          <p:cNvPr id="9" name="Bloque Concursos"/>
          <p:cNvSpPr/>
          <p:nvPr/>
        </p:nvSpPr>
        <p:spPr>
          <a:xfrm>
            <a:off x="548640" y="3922776"/>
            <a:ext cx="5029200" cy="105156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40325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CONCURSOS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0682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Drive Quoota, Exacto Quoota y Hoyo en Uno Quoota.</a:t>
            </a:r>
            <a:endParaRPr lang="en-US" sz="1300" dirty="0"/>
          </a:p>
        </p:txBody>
      </p:sp>
      <p:sp>
        <p:nvSpPr>
          <p:cNvPr id="12" name="Bloque Clínica Pide Quoota"/>
          <p:cNvSpPr/>
          <p:nvPr/>
        </p:nvSpPr>
        <p:spPr>
          <a:xfrm>
            <a:off x="548640" y="5129784"/>
            <a:ext cx="5029200" cy="105156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5239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CLÍNICA PIDE QUOOTA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5138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 horas en el range con el profesional del club para invitados que no juegan.</a:t>
            </a:r>
            <a:endParaRPr lang="en-US" sz="1300" dirty="0"/>
          </a:p>
        </p:txBody>
      </p:sp>
      <p:sp>
        <p:nvSpPr>
          <p:cNvPr id="15" name="Panel agenda"/>
          <p:cNvSpPr/>
          <p:nvPr/>
        </p:nvSpPr>
        <p:spPr>
          <a:xfrm>
            <a:off x="6126480" y="1508760"/>
            <a:ext cx="5516575" cy="4709160"/>
          </a:xfrm>
          <a:prstGeom prst="rect">
            <a:avLst/>
          </a:prstGeom>
          <a:solidFill>
            <a:schemeClr val="tx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169164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Agenda del sábado 20 de febrero</a:t>
            </a:r>
            <a:endParaRPr lang="en-US" sz="1600" dirty="0"/>
          </a:p>
        </p:txBody>
      </p:sp>
      <p:sp>
        <p:nvSpPr>
          <p:cNvPr id="17" name="Hora 6:30"/>
          <p:cNvSpPr/>
          <p:nvPr/>
        </p:nvSpPr>
        <p:spPr>
          <a:xfrm>
            <a:off x="6446520" y="2267712"/>
            <a:ext cx="777240" cy="301752"/>
          </a:xfrm>
          <a:prstGeom prst="roundRect">
            <a:avLst>
              <a:gd name="adj" fmla="val 48485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26771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6:30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224028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Acreditación y desayuno</a:t>
            </a:r>
            <a:endParaRPr lang="en-US" sz="1400" dirty="0"/>
          </a:p>
        </p:txBody>
      </p:sp>
      <p:sp>
        <p:nvSpPr>
          <p:cNvPr id="20" name="Hora 7:15"/>
          <p:cNvSpPr/>
          <p:nvPr/>
        </p:nvSpPr>
        <p:spPr>
          <a:xfrm>
            <a:off x="6446520" y="2679192"/>
            <a:ext cx="777240" cy="301752"/>
          </a:xfrm>
          <a:prstGeom prst="roundRect">
            <a:avLst>
              <a:gd name="adj" fmla="val 48485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267919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7:15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65176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Calentamiento</a:t>
            </a:r>
            <a:endParaRPr lang="en-US" sz="1400" dirty="0"/>
          </a:p>
        </p:txBody>
      </p:sp>
      <p:sp>
        <p:nvSpPr>
          <p:cNvPr id="23" name="Hora 7:45"/>
          <p:cNvSpPr/>
          <p:nvPr/>
        </p:nvSpPr>
        <p:spPr>
          <a:xfrm>
            <a:off x="6446520" y="3090672"/>
            <a:ext cx="777240" cy="301752"/>
          </a:xfrm>
          <a:prstGeom prst="roundRect">
            <a:avLst>
              <a:gd name="adj" fmla="val 48485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309067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7:45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306324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Reglas y foto oficial</a:t>
            </a:r>
            <a:endParaRPr lang="en-US" sz="1400" dirty="0"/>
          </a:p>
        </p:txBody>
      </p:sp>
      <p:sp>
        <p:nvSpPr>
          <p:cNvPr id="26" name="Hora 8:00"/>
          <p:cNvSpPr/>
          <p:nvPr/>
        </p:nvSpPr>
        <p:spPr>
          <a:xfrm>
            <a:off x="6446520" y="3502152"/>
            <a:ext cx="777240" cy="301752"/>
          </a:xfrm>
          <a:prstGeom prst="roundRect">
            <a:avLst>
              <a:gd name="adj" fmla="val 48485"/>
            </a:avLst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6520" y="350215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8:00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347472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Salida simultánea desde los 18 hoyos</a:t>
            </a:r>
            <a:endParaRPr lang="en-US" sz="1400" dirty="0"/>
          </a:p>
        </p:txBody>
      </p:sp>
      <p:sp>
        <p:nvSpPr>
          <p:cNvPr id="29" name="Hora 9:00"/>
          <p:cNvSpPr/>
          <p:nvPr/>
        </p:nvSpPr>
        <p:spPr>
          <a:xfrm>
            <a:off x="6446520" y="3913632"/>
            <a:ext cx="777240" cy="301752"/>
          </a:xfrm>
          <a:prstGeom prst="roundRect">
            <a:avLst>
              <a:gd name="adj" fmla="val 48485"/>
            </a:avLst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391363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9:00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388620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Clínica Pide Quoota</a:t>
            </a:r>
            <a:endParaRPr lang="en-US" sz="1400" dirty="0"/>
          </a:p>
        </p:txBody>
      </p:sp>
      <p:sp>
        <p:nvSpPr>
          <p:cNvPr id="32" name="Hora 12:30"/>
          <p:cNvSpPr/>
          <p:nvPr/>
        </p:nvSpPr>
        <p:spPr>
          <a:xfrm>
            <a:off x="6446520" y="4325112"/>
            <a:ext cx="777240" cy="301752"/>
          </a:xfrm>
          <a:prstGeom prst="roundRect">
            <a:avLst>
              <a:gd name="adj" fmla="val 48485"/>
            </a:avLst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46520" y="432511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12:30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429768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 de la ronda, abre el Hoyo 19</a:t>
            </a:r>
            <a:endParaRPr lang="en-US" sz="1400" dirty="0"/>
          </a:p>
        </p:txBody>
      </p:sp>
      <p:sp>
        <p:nvSpPr>
          <p:cNvPr id="35" name="Hora 1:00"/>
          <p:cNvSpPr/>
          <p:nvPr/>
        </p:nvSpPr>
        <p:spPr>
          <a:xfrm>
            <a:off x="6446520" y="4736592"/>
            <a:ext cx="777240" cy="301752"/>
          </a:xfrm>
          <a:prstGeom prst="roundRect">
            <a:avLst>
              <a:gd name="adj" fmla="val 48485"/>
            </a:avLst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46520" y="473659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1:00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406640" y="470916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Almuerzo</a:t>
            </a:r>
            <a:endParaRPr lang="en-US" sz="1400" dirty="0"/>
          </a:p>
        </p:txBody>
      </p:sp>
      <p:sp>
        <p:nvSpPr>
          <p:cNvPr id="38" name="Hora 2:30"/>
          <p:cNvSpPr/>
          <p:nvPr/>
        </p:nvSpPr>
        <p:spPr>
          <a:xfrm>
            <a:off x="6446520" y="5148072"/>
            <a:ext cx="777240" cy="301752"/>
          </a:xfrm>
          <a:prstGeom prst="roundRect">
            <a:avLst>
              <a:gd name="adj" fmla="val 48485"/>
            </a:avLst>
          </a:prstGeom>
          <a:solidFill>
            <a:schemeClr val="accent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46520" y="514807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2:30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406640" y="512064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Premiación</a:t>
            </a:r>
            <a:endParaRPr lang="en-US" sz="1400" dirty="0"/>
          </a:p>
        </p:txBody>
      </p:sp>
      <p:sp>
        <p:nvSpPr>
          <p:cNvPr id="41" name="Hora 4:00"/>
          <p:cNvSpPr/>
          <p:nvPr/>
        </p:nvSpPr>
        <p:spPr>
          <a:xfrm>
            <a:off x="6446520" y="5559552"/>
            <a:ext cx="777240" cy="301752"/>
          </a:xfrm>
          <a:prstGeom prst="roundRect">
            <a:avLst>
              <a:gd name="adj" fmla="val 48485"/>
            </a:avLst>
          </a:prstGeom>
          <a:solidFill>
            <a:schemeClr val="accent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46520" y="555955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4:00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406640" y="553212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Cierre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Invitados: abierto, con foco en aliados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57607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2057400" y="2697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120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jugadores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463040"/>
            <a:ext cx="47850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77 %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606040"/>
            <a:ext cx="4785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del cupo se asigna por invitación: aliados, prospectos y patrocinantes.</a:t>
            </a:r>
            <a:endParaRPr lang="en-US" sz="1600" dirty="0"/>
          </a:p>
        </p:txBody>
      </p:sp>
      <p:sp>
        <p:nvSpPr>
          <p:cNvPr id="8" name="Nota Socios del Junko primero"/>
          <p:cNvSpPr/>
          <p:nvPr/>
        </p:nvSpPr>
        <p:spPr>
          <a:xfrm>
            <a:off x="6858000" y="3703320"/>
            <a:ext cx="4785055" cy="114300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086600" y="379476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Socios del Junko primero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4087368"/>
            <a:ext cx="4327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Primera semana de inscripción abierta en exclusiva. USD 800 por equipo para socios, USD 1.000 público general.</a:t>
            </a:r>
            <a:endParaRPr lang="en-US" sz="1200" dirty="0"/>
          </a:p>
        </p:txBody>
      </p:sp>
      <p:sp>
        <p:nvSpPr>
          <p:cNvPr id="11" name="Nota Campo lleno"/>
          <p:cNvSpPr/>
          <p:nvPr/>
        </p:nvSpPr>
        <p:spPr>
          <a:xfrm>
            <a:off x="6858000" y="4983480"/>
            <a:ext cx="4785055" cy="114300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086600" y="50749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Campo lleno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5367528"/>
            <a:ext cx="4327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Los cupos de aliados no confirmados al 15 de enero se liberan a inscripción abierta.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Paquetes de patrocinio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Quoota es el patrocinante titular. Una marca por categoría y ninguna fintech competidora.</a:t>
            </a:r>
            <a:endParaRPr lang="en-US" sz="1600" dirty="0"/>
          </a:p>
        </p:txBody>
      </p:sp>
      <p:sp>
        <p:nvSpPr>
          <p:cNvPr id="4" name="Paquete Quoota Albatros"/>
          <p:cNvSpPr/>
          <p:nvPr/>
        </p:nvSpPr>
        <p:spPr>
          <a:xfrm>
            <a:off x="548640" y="1783080"/>
            <a:ext cx="2606040" cy="4434840"/>
          </a:xfrm>
          <a:prstGeom prst="rect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0116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Quoota Albatros</a:t>
            </a:r>
            <a:endParaRPr lang="en-US" sz="1600" dirty="0"/>
          </a:p>
        </p:txBody>
      </p:sp>
      <p:sp>
        <p:nvSpPr>
          <p:cNvPr id="6" name="Chip 1 cupo"/>
          <p:cNvSpPr/>
          <p:nvPr/>
        </p:nvSpPr>
        <p:spPr>
          <a:xfrm>
            <a:off x="804672" y="2496312"/>
            <a:ext cx="9601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49631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cupo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71800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USD 15.000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749040"/>
            <a:ext cx="20939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“Copa Quoota presentada por”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Hoyo 18 nombrado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Pórtico, backdrop y trofeo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 equipos y activación en el Hoyo 19</a:t>
            </a:r>
            <a:endParaRPr lang="en-US" sz="1400" dirty="0"/>
          </a:p>
        </p:txBody>
      </p:sp>
      <p:sp>
        <p:nvSpPr>
          <p:cNvPr id="10" name="Paquete Quoota Eagle"/>
          <p:cNvSpPr/>
          <p:nvPr/>
        </p:nvSpPr>
        <p:spPr>
          <a:xfrm>
            <a:off x="3337560" y="1783080"/>
            <a:ext cx="2606040" cy="44348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93592" y="20116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Quoota Eagle</a:t>
            </a:r>
            <a:endParaRPr lang="en-US" sz="1600" dirty="0"/>
          </a:p>
        </p:txBody>
      </p:sp>
      <p:sp>
        <p:nvSpPr>
          <p:cNvPr id="12" name="Chip 3 cupos"/>
          <p:cNvSpPr/>
          <p:nvPr/>
        </p:nvSpPr>
        <p:spPr>
          <a:xfrm>
            <a:off x="3593592" y="2496312"/>
            <a:ext cx="9601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93592" y="249631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 cupos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971800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USD 7.000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3749040"/>
            <a:ext cx="20939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Naming de un concurso y su hoyo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Activación en el hoyo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 equipo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Backdrop y step &amp; repeat</a:t>
            </a:r>
            <a:endParaRPr lang="en-US" sz="1400" dirty="0"/>
          </a:p>
        </p:txBody>
      </p:sp>
      <p:sp>
        <p:nvSpPr>
          <p:cNvPr id="16" name="Paquete Quoota Birdie"/>
          <p:cNvSpPr/>
          <p:nvPr/>
        </p:nvSpPr>
        <p:spPr>
          <a:xfrm>
            <a:off x="6126480" y="1783080"/>
            <a:ext cx="2606040" cy="44348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82512" y="20116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Quoota Birdie</a:t>
            </a:r>
            <a:endParaRPr lang="en-US" sz="1600" dirty="0"/>
          </a:p>
        </p:txBody>
      </p:sp>
      <p:sp>
        <p:nvSpPr>
          <p:cNvPr id="18" name="Chip 14 cupos"/>
          <p:cNvSpPr/>
          <p:nvPr/>
        </p:nvSpPr>
        <p:spPr>
          <a:xfrm>
            <a:off x="6382512" y="2496312"/>
            <a:ext cx="9601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249631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14 cupos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2971800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USD 3.000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3749040"/>
            <a:ext cx="20939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Naming de hoyo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Monolito y backdrop del tee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Programa y tarjeta de juego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 jugadores</a:t>
            </a:r>
            <a:endParaRPr lang="en-US" sz="1400" dirty="0"/>
          </a:p>
        </p:txBody>
      </p:sp>
      <p:sp>
        <p:nvSpPr>
          <p:cNvPr id="22" name="Paquete Quoota Par"/>
          <p:cNvSpPr/>
          <p:nvPr/>
        </p:nvSpPr>
        <p:spPr>
          <a:xfrm>
            <a:off x="8915400" y="1783080"/>
            <a:ext cx="2606040" cy="44348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71432" y="20116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Quoota Par</a:t>
            </a:r>
            <a:endParaRPr lang="en-US" sz="1600" dirty="0"/>
          </a:p>
        </p:txBody>
      </p:sp>
      <p:sp>
        <p:nvSpPr>
          <p:cNvPr id="24" name="Chip 10 cupos"/>
          <p:cNvSpPr/>
          <p:nvPr/>
        </p:nvSpPr>
        <p:spPr>
          <a:xfrm>
            <a:off x="9171432" y="2496312"/>
            <a:ext cx="9601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71432" y="249631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 cupos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71432" y="2971800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USD 1.000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171432" y="3749040"/>
            <a:ext cx="20939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Step &amp; repeat y programa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Producto en el kit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 jugador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Pensado para pymes aliadas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Naming de hoyos</a:t>
            </a:r>
            <a:endParaRPr lang="en-US" sz="3400" dirty="0"/>
          </a:p>
        </p:txBody>
      </p:sp>
      <p:pic>
        <p:nvPicPr>
          <p:cNvPr id="3" name="Foto naming" descr="Salida del hoyo 1 con señalización presentada por una marca patrocin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49440" cy="39090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778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Cada hoyo, una marca.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0533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Ejemplo: el hoyo 7 se juega como “Hoyo Grupo BNCI”. El logo oficial del patrocinante sustituye la tipografía.</a:t>
            </a:r>
            <a:endParaRPr lang="en-US" sz="1200" dirty="0"/>
          </a:p>
        </p:txBody>
      </p:sp>
      <p:sp>
        <p:nvSpPr>
          <p:cNvPr id="6" name="Cifra 1"/>
          <p:cNvSpPr/>
          <p:nvPr/>
        </p:nvSpPr>
        <p:spPr>
          <a:xfrm>
            <a:off x="8046720" y="1463040"/>
            <a:ext cx="3596335" cy="1463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75320" y="1554480"/>
            <a:ext cx="3139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2304288"/>
            <a:ext cx="3139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hoyo 18 para el patrocinante Albatros</a:t>
            </a:r>
            <a:endParaRPr lang="en-US" sz="1200" dirty="0"/>
          </a:p>
        </p:txBody>
      </p:sp>
      <p:sp>
        <p:nvSpPr>
          <p:cNvPr id="9" name="Cifra 3"/>
          <p:cNvSpPr/>
          <p:nvPr/>
        </p:nvSpPr>
        <p:spPr>
          <a:xfrm>
            <a:off x="8046720" y="3063240"/>
            <a:ext cx="3596335" cy="1463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3154680"/>
            <a:ext cx="3139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3904488"/>
            <a:ext cx="3139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hoyos para los patrocinantes Eagle, junto a su concurso</a:t>
            </a:r>
            <a:endParaRPr lang="en-US" sz="1200" dirty="0"/>
          </a:p>
        </p:txBody>
      </p:sp>
      <p:sp>
        <p:nvSpPr>
          <p:cNvPr id="12" name="Cifra 14"/>
          <p:cNvSpPr/>
          <p:nvPr/>
        </p:nvSpPr>
        <p:spPr>
          <a:xfrm>
            <a:off x="8046720" y="4663440"/>
            <a:ext cx="3596335" cy="1463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75320" y="4754880"/>
            <a:ext cx="3139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14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5504688"/>
            <a:ext cx="3139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hoyos disponibles como naming Quoota Birdie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Branding del evento en el club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Temporal y sin intervenir el campo.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Montaje autoportante, retirado en menos de 24 horas.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Nada se perfora, pinta ni ancla en greens, tees ni fairways.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nombre del Junko Country Club acompaña a la Copa en el pórtico y la premiación.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Medidas finales en visita técnica con el club.</a:t>
            </a:r>
            <a:endParaRPr lang="en-US" sz="1400" dirty="0"/>
          </a:p>
        </p:txBody>
      </p:sp>
      <p:pic>
        <p:nvPicPr>
          <p:cNvPr id="5" name="Foto Pórtico de acceso" descr="Pórtico de acce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508760"/>
            <a:ext cx="3566160" cy="200596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4480560" y="3587877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Pórtico de acceso</a:t>
            </a:r>
            <a:endParaRPr lang="en-US" sz="1200" dirty="0"/>
          </a:p>
        </p:txBody>
      </p:sp>
      <p:pic>
        <p:nvPicPr>
          <p:cNvPr id="7" name="Foto Salida del hoyo 1 y Estación Bienestar" descr="Salida del hoyo 1 y Estación Bienes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08760"/>
            <a:ext cx="3566160" cy="200596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8229600" y="3587877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Salida del hoyo 1 y Estación Bienestar</a:t>
            </a:r>
            <a:endParaRPr lang="en-US" sz="1200" dirty="0"/>
          </a:p>
        </p:txBody>
      </p:sp>
      <p:pic>
        <p:nvPicPr>
          <p:cNvPr id="9" name="Foto Green del 18, carritos y carpa del Hoyo 19" descr="Green del 18, carritos y carpa del Hoyo 19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4109085"/>
            <a:ext cx="3566160" cy="200596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4480560" y="618820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Green del 18, carritos y carpa del Hoyo 19</a:t>
            </a:r>
            <a:endParaRPr lang="en-US" sz="1200" dirty="0"/>
          </a:p>
        </p:txBody>
      </p:sp>
      <p:pic>
        <p:nvPicPr>
          <p:cNvPr id="11" name="Foto Premiación en terraza" descr="Premiación en terraz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109085"/>
            <a:ext cx="3566160" cy="200596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4000"/>
              </a:srgbClr>
            </a:outerShdw>
          </a:effectLst>
        </p:spPr>
      </p:pic>
      <p:sp>
        <p:nvSpPr>
          <p:cNvPr id="12" name="Text 6"/>
          <p:cNvSpPr txBox="1"/>
          <p:nvPr/>
        </p:nvSpPr>
        <p:spPr>
          <a:xfrm>
            <a:off x="8229600" y="618820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Premiación en terraza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Qué gana el Junko Country Club</a:t>
            </a:r>
            <a:endParaRPr lang="en-US" sz="3400" dirty="0"/>
          </a:p>
        </p:txBody>
      </p:sp>
      <p:sp>
        <p:nvSpPr>
          <p:cNvPr id="3" name="Tarjeta Ingreso directo"/>
          <p:cNvSpPr/>
          <p:nvPr/>
        </p:nvSpPr>
        <p:spPr>
          <a:xfrm>
            <a:off x="548640" y="1463040"/>
            <a:ext cx="3566160" cy="2286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Círculo Ingreso directo"/>
          <p:cNvSpPr/>
          <p:nvPr/>
        </p:nvSpPr>
        <p:spPr>
          <a:xfrm>
            <a:off x="822960" y="171907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 Ingreso directo" descr="Ingreso dire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86537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1907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Ingreso directo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Green fees, carritos, caddies y alimentos para ~220 personas, pagados por Quoota a tarifa de torneo.</a:t>
            </a:r>
            <a:endParaRPr lang="en-US" sz="1400" dirty="0"/>
          </a:p>
        </p:txBody>
      </p:sp>
      <p:sp>
        <p:nvSpPr>
          <p:cNvPr id="8" name="Tarjeta Fondo de caddies"/>
          <p:cNvSpPr/>
          <p:nvPr/>
        </p:nvSpPr>
        <p:spPr>
          <a:xfrm>
            <a:off x="4297680" y="1463040"/>
            <a:ext cx="3566160" cy="2286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Círculo Fondo de caddies"/>
          <p:cNvSpPr/>
          <p:nvPr/>
        </p:nvSpPr>
        <p:spPr>
          <a:xfrm>
            <a:off x="4572000" y="171907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o Fondo de caddies" descr="Fondo de cadd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86537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71907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Fondo de caddies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El 5 % de lo recaudado por inscripciones. Porque nos importa el talento humano.</a:t>
            </a:r>
            <a:endParaRPr lang="en-US" sz="1400" dirty="0"/>
          </a:p>
        </p:txBody>
      </p:sp>
      <p:sp>
        <p:nvSpPr>
          <p:cNvPr id="13" name="Tarjeta Legado"/>
          <p:cNvSpPr/>
          <p:nvPr/>
        </p:nvSpPr>
        <p:spPr>
          <a:xfrm>
            <a:off x="8046720" y="1463040"/>
            <a:ext cx="3566160" cy="2286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Círculo Legado"/>
          <p:cNvSpPr/>
          <p:nvPr/>
        </p:nvSpPr>
        <p:spPr>
          <a:xfrm>
            <a:off x="8321040" y="171907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o Legado" descr="Lega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186537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71907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Legado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Un juego nuevo de 18 banderas y marcadores de salida con los colores del club.</a:t>
            </a:r>
            <a:endParaRPr lang="en-US" sz="1400" dirty="0"/>
          </a:p>
        </p:txBody>
      </p:sp>
      <p:sp>
        <p:nvSpPr>
          <p:cNvPr id="18" name="Tarjeta Visibilidad"/>
          <p:cNvSpPr/>
          <p:nvPr/>
        </p:nvSpPr>
        <p:spPr>
          <a:xfrm>
            <a:off x="548640" y="3931920"/>
            <a:ext cx="3566160" cy="2286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Círculo Visibilidad"/>
          <p:cNvSpPr/>
          <p:nvPr/>
        </p:nvSpPr>
        <p:spPr>
          <a:xfrm>
            <a:off x="822960" y="41879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o Visibilidad" descr="Visibilid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33425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18795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Visibilidad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37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El club en todas las piezas, los canales de Quoota y sus medios aliados.</a:t>
            </a:r>
            <a:endParaRPr lang="en-US" sz="1400" dirty="0"/>
          </a:p>
        </p:txBody>
      </p:sp>
      <p:sp>
        <p:nvSpPr>
          <p:cNvPr id="23" name="Tarjeta Nuevos socios"/>
          <p:cNvSpPr/>
          <p:nvPr/>
        </p:nvSpPr>
        <p:spPr>
          <a:xfrm>
            <a:off x="4297680" y="3931920"/>
            <a:ext cx="3566160" cy="2286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Círculo Nuevos socios"/>
          <p:cNvSpPr/>
          <p:nvPr/>
        </p:nvSpPr>
        <p:spPr>
          <a:xfrm>
            <a:off x="4572000" y="41879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o Nuevos socios" descr="Nuevos soci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433425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418795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Nuevos socios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937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Más de 200 ejecutivos en el club en un día, con espacio para membresías en el Hoyo 19.</a:t>
            </a:r>
            <a:endParaRPr lang="en-US" sz="1400" dirty="0"/>
          </a:p>
        </p:txBody>
      </p:sp>
      <p:sp>
        <p:nvSpPr>
          <p:cNvPr id="28" name="Tarjeta Cero riesgo"/>
          <p:cNvSpPr/>
          <p:nvPr/>
        </p:nvSpPr>
        <p:spPr>
          <a:xfrm>
            <a:off x="8046720" y="3931920"/>
            <a:ext cx="3566160" cy="2286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Círculo Cero riesgo"/>
          <p:cNvSpPr/>
          <p:nvPr/>
        </p:nvSpPr>
        <p:spPr>
          <a:xfrm>
            <a:off x="8321040" y="41879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o Cero riesgo" descr="Cero ries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334256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52560" y="418795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Cero riesgo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937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Quoota asume la organización, la producción y todos los costos.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Qué necesitamos del club</a:t>
            </a:r>
            <a:endParaRPr lang="en-US" sz="3400" dirty="0"/>
          </a:p>
        </p:txBody>
      </p:sp>
      <p:graphicFrame>
        <p:nvGraphicFramePr>
          <p:cNvPr id="11" name="Tabla requerimien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545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Requerimiento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Detalle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Campo y práctica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Cierre del campo el sábado 20 de febrero hasta las 3:00 p. m.; range y putting green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Montaje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Viernes 19 desde las 12:00 m.; desmontaje antes del domingo 21 a las 12:00 m.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Carritos y caddies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Flota del club; Quoota contrata el faltante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Comité de golf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Reglas, salida, marshals y resultados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Profesional del club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Conducción de la Clínica Pide Quoota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Alimentos y bebidas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Desayuno y almuerzo para ~220 personas a tarifa de torneo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Autorizaciones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Branding temporal, fotografía y video con dron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Acceso y enlace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Lista de invitados, estacionamiento y un enlace designado por la directiva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Cronograma</a:t>
            </a:r>
            <a:endParaRPr lang="en-US" sz="3400" dirty="0"/>
          </a:p>
        </p:txBody>
      </p:sp>
      <p:sp>
        <p:nvSpPr>
          <p:cNvPr id="3" name="Línea de tiempo"/>
          <p:cNvSpPr/>
          <p:nvPr/>
        </p:nvSpPr>
        <p:spPr>
          <a:xfrm>
            <a:off x="548640" y="3776472"/>
            <a:ext cx="11094415" cy="3657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Nodo 30 oct."/>
          <p:cNvSpPr/>
          <p:nvPr/>
        </p:nvSpPr>
        <p:spPr>
          <a:xfrm>
            <a:off x="1618488" y="367588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5" name="Fecha 30 oct."/>
          <p:cNvSpPr/>
          <p:nvPr/>
        </p:nvSpPr>
        <p:spPr>
          <a:xfrm>
            <a:off x="1234440" y="310896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3108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30 oct.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Aprobación de la directiva y carta de intención</a:t>
            </a:r>
            <a:endParaRPr lang="en-US" sz="1400" dirty="0"/>
          </a:p>
        </p:txBody>
      </p:sp>
      <p:sp>
        <p:nvSpPr>
          <p:cNvPr id="8" name="Nodo Nov."/>
          <p:cNvSpPr/>
          <p:nvPr/>
        </p:nvSpPr>
        <p:spPr>
          <a:xfrm>
            <a:off x="2863770" y="367588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9" name="Fecha Nov."/>
          <p:cNvSpPr/>
          <p:nvPr/>
        </p:nvSpPr>
        <p:spPr>
          <a:xfrm>
            <a:off x="2479722" y="416052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79722" y="41605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Nov.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793922" y="4617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Visita técnica y anuncio en el aniversario de Quoota</a:t>
            </a:r>
            <a:endParaRPr lang="en-US" sz="1400" dirty="0"/>
          </a:p>
        </p:txBody>
      </p:sp>
      <p:sp>
        <p:nvSpPr>
          <p:cNvPr id="12" name="Nodo 15 dic."/>
          <p:cNvSpPr/>
          <p:nvPr/>
        </p:nvSpPr>
        <p:spPr>
          <a:xfrm>
            <a:off x="4109052" y="367588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3" name="Fecha 15 dic."/>
          <p:cNvSpPr/>
          <p:nvPr/>
        </p:nvSpPr>
        <p:spPr>
          <a:xfrm>
            <a:off x="3725004" y="310896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25004" y="3108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15 dic.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39204" y="1645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Cierre Albatros e invitaciones a aliados</a:t>
            </a:r>
            <a:endParaRPr lang="en-US" sz="1400" dirty="0"/>
          </a:p>
        </p:txBody>
      </p:sp>
      <p:sp>
        <p:nvSpPr>
          <p:cNvPr id="16" name="Nodo 11 ene."/>
          <p:cNvSpPr/>
          <p:nvPr/>
        </p:nvSpPr>
        <p:spPr>
          <a:xfrm>
            <a:off x="5354335" y="367588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7" name="Fecha 11 ene."/>
          <p:cNvSpPr/>
          <p:nvPr/>
        </p:nvSpPr>
        <p:spPr>
          <a:xfrm>
            <a:off x="4970287" y="416052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70287" y="41605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11 ene.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84487" y="4617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Inscripción abierta, socios del Junko primero</a:t>
            </a:r>
            <a:endParaRPr lang="en-US" sz="1400" dirty="0"/>
          </a:p>
        </p:txBody>
      </p:sp>
      <p:sp>
        <p:nvSpPr>
          <p:cNvPr id="20" name="Nodo 31 ene."/>
          <p:cNvSpPr/>
          <p:nvPr/>
        </p:nvSpPr>
        <p:spPr>
          <a:xfrm>
            <a:off x="6599617" y="367588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1" name="Fecha 31 ene."/>
          <p:cNvSpPr/>
          <p:nvPr/>
        </p:nvSpPr>
        <p:spPr>
          <a:xfrm>
            <a:off x="6215569" y="310896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5569" y="3108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31 ene.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529769" y="1645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Cierre de patrocinios</a:t>
            </a:r>
            <a:endParaRPr lang="en-US" sz="1400" dirty="0"/>
          </a:p>
        </p:txBody>
      </p:sp>
      <p:sp>
        <p:nvSpPr>
          <p:cNvPr id="24" name="Nodo 12 feb."/>
          <p:cNvSpPr/>
          <p:nvPr/>
        </p:nvSpPr>
        <p:spPr>
          <a:xfrm>
            <a:off x="7844899" y="367588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5" name="Fecha 12 feb."/>
          <p:cNvSpPr/>
          <p:nvPr/>
        </p:nvSpPr>
        <p:spPr>
          <a:xfrm>
            <a:off x="7460851" y="416052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60851" y="41605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12 feb.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75051" y="4617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Cierre de inscripciones y grupos</a:t>
            </a:r>
            <a:endParaRPr lang="en-US" sz="1400" dirty="0"/>
          </a:p>
        </p:txBody>
      </p:sp>
      <p:sp>
        <p:nvSpPr>
          <p:cNvPr id="28" name="Nodo 20 feb."/>
          <p:cNvSpPr/>
          <p:nvPr/>
        </p:nvSpPr>
        <p:spPr>
          <a:xfrm>
            <a:off x="9090181" y="367588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9" name="Fecha 20 feb."/>
          <p:cNvSpPr/>
          <p:nvPr/>
        </p:nvSpPr>
        <p:spPr>
          <a:xfrm>
            <a:off x="8706133" y="310896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06133" y="3108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 feb.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020333" y="1645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Copa Quoota</a:t>
            </a:r>
            <a:endParaRPr lang="en-US" sz="1400" dirty="0"/>
          </a:p>
        </p:txBody>
      </p:sp>
      <p:sp>
        <p:nvSpPr>
          <p:cNvPr id="32" name="Nodo 26 feb."/>
          <p:cNvSpPr/>
          <p:nvPr/>
        </p:nvSpPr>
        <p:spPr>
          <a:xfrm>
            <a:off x="10335463" y="3675888"/>
            <a:ext cx="237744" cy="23774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3" name="Fecha 26 feb."/>
          <p:cNvSpPr/>
          <p:nvPr/>
        </p:nvSpPr>
        <p:spPr>
          <a:xfrm>
            <a:off x="9951415" y="416052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51415" y="41605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26 feb.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265615" y="4617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Informe de resultados a la directiva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Fechas de 2026 hasta diciembre; de 2027 desde enero.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ierre" descr="Green del hoyo 18 y carpa del Hoyo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el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>
              <a:alpha val="65000"/>
            </a:srgb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Lo que pedimos a la Junta Directiva</a:t>
            </a:r>
            <a:endParaRPr lang="en-US" sz="3400" dirty="0"/>
          </a:p>
        </p:txBody>
      </p:sp>
      <p:sp>
        <p:nvSpPr>
          <p:cNvPr id="5" name="Petición 01"/>
          <p:cNvSpPr/>
          <p:nvPr/>
        </p:nvSpPr>
        <p:spPr>
          <a:xfrm>
            <a:off x="548640" y="1554480"/>
            <a:ext cx="3566160" cy="2468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Fecha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Sábado 20 de febrero de 2027 con cierre del campo. Alterna: sábado 6 de marzo.</a:t>
            </a:r>
            <a:endParaRPr lang="en-US" sz="1400" dirty="0"/>
          </a:p>
        </p:txBody>
      </p:sp>
      <p:sp>
        <p:nvSpPr>
          <p:cNvPr id="9" name="Petición 02"/>
          <p:cNvSpPr/>
          <p:nvPr/>
        </p:nvSpPr>
        <p:spPr>
          <a:xfrm>
            <a:off x="4297680" y="1554480"/>
            <a:ext cx="3566160" cy="2468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1737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02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Branding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926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Aprobación del plan de montaje temporal según los renders.</a:t>
            </a:r>
            <a:endParaRPr lang="en-US" sz="1400" dirty="0"/>
          </a:p>
        </p:txBody>
      </p:sp>
      <p:sp>
        <p:nvSpPr>
          <p:cNvPr id="13" name="Petición 03"/>
          <p:cNvSpPr/>
          <p:nvPr/>
        </p:nvSpPr>
        <p:spPr>
          <a:xfrm>
            <a:off x="8046720" y="1554480"/>
            <a:ext cx="3566160" cy="2468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21040" y="1737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03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Enlace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926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Una persona designada para coordinar todo el proceso.</a:t>
            </a:r>
            <a:endParaRPr lang="en-US" sz="1400" dirty="0"/>
          </a:p>
        </p:txBody>
      </p:sp>
      <p:sp>
        <p:nvSpPr>
          <p:cNvPr id="17" name="Llamado final"/>
          <p:cNvSpPr/>
          <p:nvPr/>
        </p:nvSpPr>
        <p:spPr>
          <a:xfrm>
            <a:off x="548640" y="4297680"/>
            <a:ext cx="11094415" cy="1554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448056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Respuesta antes del viernes 30 de octubre de 2026.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51663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 la aprobación firmamos la carta de intención y agendamos la visita técnica.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9E9E9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pa Quoota">
  <a:themeElements>
    <a:clrScheme name="Copa Quoota">
      <a:dk1>
        <a:srgbClr val="111111"/>
      </a:dk1>
      <a:lt1>
        <a:srgbClr val="FFFFFF"/>
      </a:lt1>
      <a:dk2>
        <a:srgbClr val="555555"/>
      </a:dk2>
      <a:lt2>
        <a:srgbClr val="F2F5F3"/>
      </a:lt2>
      <a:accent1>
        <a:srgbClr val="65F89E"/>
      </a:accent1>
      <a:accent2>
        <a:srgbClr val="1E1E1E"/>
      </a:accent2>
      <a:accent3>
        <a:srgbClr val="D9D9D9"/>
      </a:accent3>
      <a:accent4>
        <a:srgbClr val="9E9E9E"/>
      </a:accent4>
      <a:accent5>
        <a:srgbClr val="2E7D4F"/>
      </a:accent5>
      <a:accent6>
        <a:srgbClr val="BDBDBD"/>
      </a:accent6>
      <a:hlink>
        <a:srgbClr val="2E7D4F"/>
      </a:hlink>
      <a:folHlink>
        <a:srgbClr val="555555"/>
      </a:folHlink>
    </a:clrScheme>
    <a:fontScheme name="Copa Quoota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Copa Quoota</dc:title>
  <dc:subject>PptxGenJS Presentation</dc:subject>
  <dc:creator>Quoota Capital</dc:creator>
  <cp:lastModifiedBy>Quoota Capital</cp:lastModifiedBy>
  <cp:revision>1</cp:revision>
  <dcterms:created xsi:type="dcterms:W3CDTF">2026-10-05T20:13:30Z</dcterms:created>
  <dcterms:modified xsi:type="dcterms:W3CDTF">2026-10-05T20:13:30Z</dcterms:modified>
</cp:coreProperties>
</file>